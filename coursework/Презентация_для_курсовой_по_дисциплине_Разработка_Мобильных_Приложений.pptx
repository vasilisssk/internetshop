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57" r:id="rId11"/>
    <p:sldId id="288" r:id="rId12"/>
    <p:sldId id="289" r:id="rId13"/>
    <p:sldId id="259" r:id="rId14"/>
    <p:sldId id="29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  <a:tblStyle styleId="{21E4AEA4-8DFA-4A89-87EB-49C32662AFE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BEBE8"/>
          </a:solidFill>
        </a:fill>
      </a:tcStyle>
    </a:wholeTbl>
    <a:band1H>
      <a:tcStyle>
        <a:tcBdr/>
        <a:fill>
          <a:solidFill>
            <a:srgbClr val="F7D5C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F7D5CD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9713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9713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9713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7132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BAFECA7-2A04-42AC-9ABE-54B733952D05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F5ABD5-3764-46FD-99C6-55BB9B79B4F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3643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DC1BF8-6CBE-4C17-802D-361F1A9BE8A0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EF351C-8D83-4EB4-BFB4-E866C6002FB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4353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D7880E-C38B-4BD7-BBE2-72AD6EFA6044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FB8B26-DF5B-49A5-B42C-6621F699D86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42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DF0208-E052-43E2-B3E2-91B659990E13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13BDE1F-EA89-49D4-8329-B267D7ACD41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94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BA5BA7-E5FD-49A5-9592-3FC163E29E0A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8" name="Нижний колонтитул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9" name="Номер слайда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58E70C-8ED8-44C3-9991-F41218352E0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2F3AF-60FB-40D2-A7DE-52279720F128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A743BB-49F7-4DBE-8EAF-DC0FE8CB173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51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7B10D6-8BFA-49C4-BFF7-7C43F2EA8AF3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3" name="Нижний колонтитул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4" name="Номер слайда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F9D4B7-CBA8-4369-B7D1-EAF51F8AB67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96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556768-4DF2-4581-BF54-07CE7556574C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711982-C6AB-4CC0-ACC0-4C8AAD17413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385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ru-RU"/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F10F30-E7E4-4ED4-9340-43ECC86CF982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B3EBA2-E291-45F8-8482-AAD1826BFA3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34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029AA4-A58B-4646-A855-602A4BB8D995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F1C3B5-4F0B-450F-99DF-586412095B2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93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4B4B7B-4FFB-4C7F-B012-1FB45D741C02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177F98-45FE-4C72-8613-112127B1F49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70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9804D6B4-A7DF-4A6F-9DAB-089AE8603E4E}" type="datetime1">
              <a:rPr lang="ru-RU"/>
              <a:pPr lvl="0"/>
              <a:t>06.06.2026</a:t>
            </a:fld>
            <a:endParaRPr lang="ru-RU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9453257C-936E-4D41-8E2D-4AEB6C6107CC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ru-RU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3047996" y="-2496"/>
            <a:ext cx="6105073" cy="1661885"/>
          </a:xfrm>
        </p:spPr>
        <p:txBody>
          <a:bodyPr>
            <a:noAutofit/>
          </a:bodyPr>
          <a:lstStyle/>
          <a:p>
            <a:pPr lvl="0"/>
            <a:r>
              <a:rPr lang="ru-RU" sz="1800">
                <a:latin typeface="Times New Roman"/>
                <a:cs typeface="Times New Roman"/>
              </a:rPr>
              <a:t>МИНОБРНАУКИ РОССИИ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ФЕДЕРАЛЬНОЕ ГОСУДАРСТВЕННОЕ БЮДЖЕТНОЕ ОБРАЗОВАТЕЛЬНОЕ  УЧРЕЖДЕНИЕ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ВЫСШЕГО ОБРАЗОВАНИЯ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«ВОРОНЕЖСКИЙ ГОСУДАРСТВЕННЫЙ УНИВЕРСИТЕТ»  (ФГБОУ ВО «ВГУ»)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8410661" y="5245693"/>
            <a:ext cx="3781336" cy="882386"/>
          </a:xfrm>
        </p:spPr>
        <p:txBody>
          <a:bodyPr anchorCtr="0"/>
          <a:lstStyle/>
          <a:p>
            <a:pPr lvl="0" algn="l"/>
            <a:r>
              <a:rPr lang="ru-RU" dirty="0">
                <a:latin typeface="Times New Roman"/>
                <a:cs typeface="Times New Roman"/>
              </a:rPr>
              <a:t>Обучающийся: Ерохов В.Е.</a:t>
            </a:r>
          </a:p>
          <a:p>
            <a:pPr lvl="0" algn="l"/>
            <a:r>
              <a:rPr lang="ru-RU" dirty="0">
                <a:latin typeface="Times New Roman"/>
                <a:cs typeface="Times New Roman"/>
              </a:rPr>
              <a:t>Руководитель: Ушаков В.А.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859504" y="1859391"/>
            <a:ext cx="8472985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Факультет компьютерных наук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Кафедра программирования и информационных технологий</a:t>
            </a:r>
            <a:endParaRPr lang="ru-RU" sz="24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2" y="2890391"/>
            <a:ext cx="12191999" cy="1077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Разработка мобильного приложения интернет-магазина электроники на платформе </a:t>
            </a:r>
            <a:r>
              <a:rPr lang="en-US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2942228" y="1179"/>
            <a:ext cx="6307540" cy="648821"/>
          </a:xfrm>
        </p:spPr>
        <p:txBody>
          <a:bodyPr anchorCtr="1"/>
          <a:lstStyle/>
          <a:p>
            <a:pPr lvl="0" algn="ctr"/>
            <a:r>
              <a:rPr lang="ru-RU" sz="4000" dirty="0">
                <a:latin typeface="Times New Roman"/>
                <a:cs typeface="Times New Roman"/>
              </a:rPr>
              <a:t>Цели и задачи</a:t>
            </a:r>
          </a:p>
        </p:txBody>
      </p:sp>
      <p:sp>
        <p:nvSpPr>
          <p:cNvPr id="3" name="TextBox3"/>
          <p:cNvSpPr txBox="1"/>
          <p:nvPr/>
        </p:nvSpPr>
        <p:spPr>
          <a:xfrm>
            <a:off x="588416" y="650000"/>
            <a:ext cx="11015164" cy="51966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Цель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разработать мобильное приложение интернет-магазина </a:t>
            </a:r>
            <a:r>
              <a:rPr lang="ru-RU" sz="2400" dirty="0">
                <a:solidFill>
                  <a:srgbClr val="202124"/>
                </a:solidFill>
                <a:latin typeface="Times New Roman"/>
                <a:cs typeface="Times New Roman"/>
              </a:rPr>
              <a:t>электроники 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для платформы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, обеспечивающее полный цикл покупки.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Задачи: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изучить предметную область мобильной разработки и электронной коммерции;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спроектировать трёхслойную архитектур</a:t>
            </a:r>
            <a:r>
              <a:rPr lang="ru-RU" sz="2400" dirty="0">
                <a:solidFill>
                  <a:srgbClr val="202124"/>
                </a:solidFill>
                <a:latin typeface="Times New Roman"/>
                <a:cs typeface="Times New Roman"/>
              </a:rPr>
              <a:t>;</a:t>
            </a:r>
            <a:endParaRPr lang="ru-RU" sz="24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реализовать модули: аутентификация, каталог, корзина (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realtime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), заказы;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интегрировать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разработать UI по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Material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Desig</a:t>
            </a:r>
            <a:r>
              <a:rPr lang="en-US" sz="2400" dirty="0">
                <a:solidFill>
                  <a:srgbClr val="202124"/>
                </a:solidFill>
                <a:latin typeface="Times New Roman"/>
                <a:cs typeface="Times New Roman"/>
              </a:rPr>
              <a:t>n.</a:t>
            </a:r>
            <a:endParaRPr lang="ru-RU" sz="24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</p:txBody>
      </p:sp>
      <p:sp>
        <p:nvSpPr>
          <p:cNvPr id="99" name="PageNum"/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5"/>
          <p:cNvSpPr txBox="1"/>
          <p:nvPr/>
        </p:nvSpPr>
        <p:spPr>
          <a:xfrm>
            <a:off x="4336127" y="653855"/>
            <a:ext cx="3519742" cy="5799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Ключевые особенности: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3013293" y="1233822"/>
            <a:ext cx="6165410" cy="22419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каталог с 50+ категориями и фильтрами;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поиск по фото и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автодополнение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отслеживание доставки на карте в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real-time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система лояльности (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кэшбэк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, купоны).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83A186F4-82C0-488B-9120-1D17B3A06B40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Обзор аналогов: </a:t>
            </a:r>
            <a:r>
              <a:rPr lang="en-US" sz="4000" dirty="0" err="1">
                <a:latin typeface="Times New Roman"/>
                <a:cs typeface="Times New Roman"/>
              </a:rPr>
              <a:t>Wildberries</a:t>
            </a:r>
            <a:endParaRPr lang="ru-RU" sz="4000" dirty="0">
              <a:latin typeface="Times New Roman"/>
              <a:cs typeface="Times New Roman"/>
            </a:endParaRPr>
          </a:p>
        </p:txBody>
      </p:sp>
      <p:graphicFrame>
        <p:nvGraphicFramePr>
          <p:cNvPr id="8" name="Таблица 10">
            <a:extLst>
              <a:ext uri="{FF2B5EF4-FFF2-40B4-BE49-F238E27FC236}">
                <a16:creationId xmlns:a16="http://schemas.microsoft.com/office/drawing/2014/main" id="{9AED443C-AF81-4E07-890B-858A7D586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53301"/>
              </p:ext>
            </p:extLst>
          </p:nvPr>
        </p:nvGraphicFramePr>
        <p:xfrm>
          <a:off x="546976" y="3475782"/>
          <a:ext cx="1109804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6966">
                  <a:extLst>
                    <a:ext uri="{9D8B030D-6E8A-4147-A177-3AD203B41FA5}">
                      <a16:colId xmlns:a16="http://schemas.microsoft.com/office/drawing/2014/main" val="863232151"/>
                    </a:ext>
                  </a:extLst>
                </a:gridCol>
                <a:gridCol w="6961078">
                  <a:extLst>
                    <a:ext uri="{9D8B030D-6E8A-4147-A177-3AD203B41FA5}">
                      <a16:colId xmlns:a16="http://schemas.microsoft.com/office/drawing/2014/main" val="4180758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68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6.0+, iOS 14+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80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Аутентификация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Телефон +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SMS-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код,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email,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соцсети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29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Полнотекстовый, по фото, </a:t>
                      </a:r>
                      <a:r>
                        <a:rPr lang="ru-RU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автодополнение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8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Синхронизация корзины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Да, в реальном </a:t>
                      </a:r>
                      <a:r>
                        <a:rPr lang="ru-RU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времеени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2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Способ оплаты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Карта, СБП, наличные, кредит, рассрочка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83672"/>
                  </a:ext>
                </a:extLst>
              </a:tr>
            </a:tbl>
          </a:graphicData>
        </a:graphic>
      </p:graphicFrame>
      <p:sp>
        <p:nvSpPr>
          <p:cNvPr id="16" name="PageNum">
            <a:extLst>
              <a:ext uri="{FF2B5EF4-FFF2-40B4-BE49-F238E27FC236}">
                <a16:creationId xmlns:a16="http://schemas.microsoft.com/office/drawing/2014/main" id="{D261CB6E-6CA7-4BC4-8399-78C75EF1396A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z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5"/>
          <p:cNvSpPr txBox="1"/>
          <p:nvPr/>
        </p:nvSpPr>
        <p:spPr>
          <a:xfrm>
            <a:off x="4320501" y="649292"/>
            <a:ext cx="3550994" cy="5799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Ключевые особенности: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2613212" y="1229259"/>
            <a:ext cx="6965572" cy="22419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умный поиск: голос + фото + предсказания;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Ozon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Карта с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кэшбэком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(встроена в приложение);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возврат через QR-код без звонков;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частичный офлайн-режим (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кеш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каталога).</a:t>
            </a:r>
          </a:p>
        </p:txBody>
      </p:sp>
      <p:graphicFrame>
        <p:nvGraphicFramePr>
          <p:cNvPr id="8" name="Таблица 10">
            <a:extLst>
              <a:ext uri="{FF2B5EF4-FFF2-40B4-BE49-F238E27FC236}">
                <a16:creationId xmlns:a16="http://schemas.microsoft.com/office/drawing/2014/main" id="{965673A3-50C3-40C7-AF8B-7880F47B4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836318"/>
              </p:ext>
            </p:extLst>
          </p:nvPr>
        </p:nvGraphicFramePr>
        <p:xfrm>
          <a:off x="546976" y="3506800"/>
          <a:ext cx="1109804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6966">
                  <a:extLst>
                    <a:ext uri="{9D8B030D-6E8A-4147-A177-3AD203B41FA5}">
                      <a16:colId xmlns:a16="http://schemas.microsoft.com/office/drawing/2014/main" val="863232151"/>
                    </a:ext>
                  </a:extLst>
                </a:gridCol>
                <a:gridCol w="6961078">
                  <a:extLst>
                    <a:ext uri="{9D8B030D-6E8A-4147-A177-3AD203B41FA5}">
                      <a16:colId xmlns:a16="http://schemas.microsoft.com/office/drawing/2014/main" val="4180758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68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.0+, iOS 14+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80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Аутентификация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Телефон +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email, Apple ID, Google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29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Голосовой, по фото, предиктивные подсказки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8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Синхронизация корзины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Да, с мгновенным пересчётом стоимости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2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Офлайн-режим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Частично (</a:t>
                      </a:r>
                      <a:r>
                        <a:rPr lang="ru-RU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кеш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аналога)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83672"/>
                  </a:ext>
                </a:extLst>
              </a:tr>
            </a:tbl>
          </a:graphicData>
        </a:graphic>
      </p:graphicFrame>
      <p:sp>
        <p:nvSpPr>
          <p:cNvPr id="9" name="Title">
            <a:extLst>
              <a:ext uri="{FF2B5EF4-FFF2-40B4-BE49-F238E27FC236}">
                <a16:creationId xmlns:a16="http://schemas.microsoft.com/office/drawing/2014/main" id="{C24E9B1E-A7D3-42E7-B82D-1FB403457B6E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Обзор аналогов: </a:t>
            </a:r>
            <a:r>
              <a:rPr lang="en-US" sz="4000" dirty="0">
                <a:latin typeface="Times New Roman"/>
                <a:cs typeface="Times New Roman"/>
              </a:rPr>
              <a:t>Ozon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3" name="PageNum">
            <a:extLst>
              <a:ext uri="{FF2B5EF4-FFF2-40B4-BE49-F238E27FC236}">
                <a16:creationId xmlns:a16="http://schemas.microsoft.com/office/drawing/2014/main" id="{C8E63F31-D1FF-49E9-86E4-E2C85C3B1E76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C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4"/>
          <p:cNvSpPr txBox="1"/>
          <p:nvPr/>
        </p:nvSpPr>
        <p:spPr>
          <a:xfrm>
            <a:off x="7290255" y="650000"/>
            <a:ext cx="6010000" cy="60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Акторы</a:t>
            </a: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 системы: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7290255" y="1300000"/>
            <a:ext cx="6010000" cy="200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Незарегистрированный: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Зарегистрироваться в системе;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Войти в систему.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1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Зарегистрированный (9 действий):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Просмотр и поиск товаров в каталоге;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Управление корзиной;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Оформление заказа;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Просмотр истории заказов;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Просмотр профиля и выход.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AD694A36-6BDD-4BB0-AE7A-99B5E4D39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510414"/>
              </p:ext>
            </p:extLst>
          </p:nvPr>
        </p:nvGraphicFramePr>
        <p:xfrm>
          <a:off x="406400" y="1117600"/>
          <a:ext cx="6391564" cy="46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745">
                  <a:extLst>
                    <a:ext uri="{9D8B030D-6E8A-4147-A177-3AD203B41FA5}">
                      <a16:colId xmlns:a16="http://schemas.microsoft.com/office/drawing/2014/main" val="3073764351"/>
                    </a:ext>
                  </a:extLst>
                </a:gridCol>
                <a:gridCol w="4525819">
                  <a:extLst>
                    <a:ext uri="{9D8B030D-6E8A-4147-A177-3AD203B41FA5}">
                      <a16:colId xmlns:a16="http://schemas.microsoft.com/office/drawing/2014/main" val="307000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Актор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Вариант использования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7020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Незарегистрированный пользователь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Зарегистрироваться в системе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43669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Войти в систему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144497"/>
                  </a:ext>
                </a:extLst>
              </a:tr>
              <a:tr h="370840">
                <a:tc rowSpan="9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Зарегистрированный пользователь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Просмотреть каталог товаров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3080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Найти товары по названию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706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Отфильтровать</a:t>
                      </a:r>
                      <a:r>
                        <a:rPr lang="en-US" dirty="0"/>
                        <a:t>/</a:t>
                      </a:r>
                      <a:r>
                        <a:rPr lang="ru-RU" dirty="0"/>
                        <a:t>отсортировать товары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2915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Добавить товар в корзину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485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Удалить товар из корзины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5981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Просмотреть корзину и итоговую стоимость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4311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Оформить заказ с выбором способа оплаты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2758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Просмотреть историю заказов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0584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Просмотреть профиль и выйти из системы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967083"/>
                  </a:ext>
                </a:extLst>
              </a:tr>
            </a:tbl>
          </a:graphicData>
        </a:graphic>
      </p:graphicFrame>
      <p:sp>
        <p:nvSpPr>
          <p:cNvPr id="9" name="Title">
            <a:extLst>
              <a:ext uri="{FF2B5EF4-FFF2-40B4-BE49-F238E27FC236}">
                <a16:creationId xmlns:a16="http://schemas.microsoft.com/office/drawing/2014/main" id="{8D519119-BD13-40BA-B119-D4EDF1912A4F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использования</a:t>
            </a:r>
          </a:p>
        </p:txBody>
      </p:sp>
      <p:sp>
        <p:nvSpPr>
          <p:cNvPr id="13" name="PageNum">
            <a:extLst>
              <a:ext uri="{FF2B5EF4-FFF2-40B4-BE49-F238E27FC236}">
                <a16:creationId xmlns:a16="http://schemas.microsoft.com/office/drawing/2014/main" id="{7DF12E7C-1122-4FB4-9040-8734637E59FE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5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St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4"/>
          <p:cNvSpPr txBox="1"/>
          <p:nvPr/>
        </p:nvSpPr>
        <p:spPr>
          <a:xfrm>
            <a:off x="2840998" y="650000"/>
            <a:ext cx="6510000" cy="554344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Язык: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Kotlin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null-safety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,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coroutines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Платформа: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SDK API 24+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Архитектура: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ViewModel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LiveData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Jetpack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Jetpack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Navigation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Component</a:t>
            </a:r>
            <a:endParaRPr lang="ru-RU" sz="21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Koin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3.x – внедрение зависимостей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Backend</a:t>
            </a: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2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):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PostgreSQL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PostgREST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(REST API)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Auth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JWT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Realtime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WebSocket</a:t>
            </a: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4F365E5-33DE-49C6-B00A-B3B40419B9A0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</a:t>
            </a:r>
          </a:p>
        </p:txBody>
      </p:sp>
      <p:sp>
        <p:nvSpPr>
          <p:cNvPr id="9" name="PageNum">
            <a:extLst>
              <a:ext uri="{FF2B5EF4-FFF2-40B4-BE49-F238E27FC236}">
                <a16:creationId xmlns:a16="http://schemas.microsoft.com/office/drawing/2014/main" id="{530284F9-C76C-4476-B980-4851682B9C76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6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C3D93BF5-ECBD-45D9-A74C-DC93CD821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038521"/>
              </p:ext>
            </p:extLst>
          </p:nvPr>
        </p:nvGraphicFramePr>
        <p:xfrm>
          <a:off x="1281565" y="976072"/>
          <a:ext cx="9628866" cy="3113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54">
                  <a:extLst>
                    <a:ext uri="{9D8B030D-6E8A-4147-A177-3AD203B41FA5}">
                      <a16:colId xmlns:a16="http://schemas.microsoft.com/office/drawing/2014/main" val="971303269"/>
                    </a:ext>
                  </a:extLst>
                </a:gridCol>
                <a:gridCol w="2262912">
                  <a:extLst>
                    <a:ext uri="{9D8B030D-6E8A-4147-A177-3AD203B41FA5}">
                      <a16:colId xmlns:a16="http://schemas.microsoft.com/office/drawing/2014/main" val="3765149263"/>
                    </a:ext>
                  </a:extLst>
                </a:gridCol>
                <a:gridCol w="2469767">
                  <a:extLst>
                    <a:ext uri="{9D8B030D-6E8A-4147-A177-3AD203B41FA5}">
                      <a16:colId xmlns:a16="http://schemas.microsoft.com/office/drawing/2014/main" val="774575762"/>
                    </a:ext>
                  </a:extLst>
                </a:gridCol>
                <a:gridCol w="3612333">
                  <a:extLst>
                    <a:ext uri="{9D8B030D-6E8A-4147-A177-3AD203B41FA5}">
                      <a16:colId xmlns:a16="http://schemas.microsoft.com/office/drawing/2014/main" val="2224896255"/>
                    </a:ext>
                  </a:extLst>
                </a:gridCol>
              </a:tblGrid>
              <a:tr h="37006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Слой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Компоненты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Классы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Ответственность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21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 (16 </a:t>
                      </a:r>
                      <a:r>
                        <a:rPr lang="ru-RU" dirty="0"/>
                        <a:t>классов)</a:t>
                      </a:r>
                      <a:br>
                        <a:rPr lang="en-US" dirty="0"/>
                      </a:br>
                      <a:r>
                        <a:rPr lang="en-US" dirty="0"/>
                        <a:t>Repository</a:t>
                      </a:r>
                      <a:br>
                        <a:rPr lang="en-US" dirty="0"/>
                      </a:br>
                      <a:r>
                        <a:rPr lang="en-US" dirty="0"/>
                        <a:t>Service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SignInUseCase</a:t>
                      </a:r>
                      <a:br>
                        <a:rPr lang="en-US" dirty="0"/>
                      </a:br>
                      <a:r>
                        <a:rPr lang="en-US" dirty="0" err="1"/>
                        <a:t>AuthRepositoryImpl</a:t>
                      </a:r>
                      <a:br>
                        <a:rPr lang="en-US" dirty="0"/>
                      </a:br>
                      <a:r>
                        <a:rPr lang="en-US" dirty="0" err="1"/>
                        <a:t>CartRealtimeService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Бизнес-сценарии</a:t>
                      </a:r>
                    </a:p>
                    <a:p>
                      <a:r>
                        <a:rPr lang="ru-RU" dirty="0"/>
                        <a:t>Доступ к </a:t>
                      </a:r>
                      <a:r>
                        <a:rPr lang="en-US" dirty="0" err="1"/>
                        <a:t>Supabase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PostgREST</a:t>
                      </a:r>
                      <a:r>
                        <a:rPr lang="en-US" dirty="0"/>
                        <a:t>, Auth, Realtime)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3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View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Activity</a:t>
                      </a:r>
                    </a:p>
                    <a:p>
                      <a:r>
                        <a:rPr lang="en-US" dirty="0"/>
                        <a:t>Fragment</a:t>
                      </a:r>
                    </a:p>
                    <a:p>
                      <a:r>
                        <a:rPr lang="en-US" dirty="0"/>
                        <a:t>Adapter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RegistrationActivity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CatalogueFragment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Отображение </a:t>
                      </a:r>
                      <a:r>
                        <a:rPr lang="en-US" dirty="0"/>
                        <a:t>UI, </a:t>
                      </a:r>
                      <a:r>
                        <a:rPr lang="ru-RU" dirty="0"/>
                        <a:t>обработка пользовательских событий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696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ViewModel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ViewModel</a:t>
                      </a:r>
                      <a:endParaRPr lang="en-US" dirty="0"/>
                    </a:p>
                    <a:p>
                      <a:r>
                        <a:rPr lang="en-US" dirty="0" err="1"/>
                        <a:t>LiveData</a:t>
                      </a:r>
                      <a:endParaRPr lang="en-US" dirty="0"/>
                    </a:p>
                    <a:p>
                      <a:r>
                        <a:rPr lang="en-US" dirty="0"/>
                        <a:t>data class </a:t>
                      </a:r>
                      <a:r>
                        <a:rPr lang="en-US" dirty="0" err="1"/>
                        <a:t>uiState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RegistrationViewModel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CatalogueViewModel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Управление состоянием экрана, реактивный </a:t>
                      </a:r>
                      <a:r>
                        <a:rPr lang="en-US" dirty="0"/>
                        <a:t>UI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17342"/>
                  </a:ext>
                </a:extLst>
              </a:tr>
            </a:tbl>
          </a:graphicData>
        </a:graphic>
      </p:graphicFrame>
      <p:sp>
        <p:nvSpPr>
          <p:cNvPr id="8" name="Title">
            <a:extLst>
              <a:ext uri="{FF2B5EF4-FFF2-40B4-BE49-F238E27FC236}">
                <a16:creationId xmlns:a16="http://schemas.microsoft.com/office/drawing/2014/main" id="{7E00C9F8-E962-4E8D-8020-14D8F4027521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</a:p>
        </p:txBody>
      </p:sp>
      <p:sp>
        <p:nvSpPr>
          <p:cNvPr id="11" name="PageNum">
            <a:extLst>
              <a:ext uri="{FF2B5EF4-FFF2-40B4-BE49-F238E27FC236}">
                <a16:creationId xmlns:a16="http://schemas.microsoft.com/office/drawing/2014/main" id="{099F1399-8112-4321-AB7D-8C597A70AD34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7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5D3D2FD-96A5-4DA3-A0ED-25829F044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41" y="4882361"/>
            <a:ext cx="9636790" cy="1367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3"/>
          <p:cNvPicPr/>
          <p:nvPr/>
        </p:nvPicPr>
        <p:blipFill>
          <a:blip r:embed="rId2"/>
          <a:stretch>
            <a:fillRect/>
          </a:stretch>
        </p:blipFill>
        <p:spPr>
          <a:xfrm>
            <a:off x="491996" y="1100000"/>
            <a:ext cx="6800000" cy="5100000"/>
          </a:xfrm>
          <a:prstGeom prst="rect">
            <a:avLst/>
          </a:prstGeom>
        </p:spPr>
      </p:pic>
      <p:sp>
        <p:nvSpPr>
          <p:cNvPr id="4" name="TextBox4"/>
          <p:cNvSpPr txBox="1"/>
          <p:nvPr/>
        </p:nvSpPr>
        <p:spPr>
          <a:xfrm>
            <a:off x="7700000" y="1100000"/>
            <a:ext cx="4000000" cy="338631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>
                <a:uFillTx/>
                <a:latin typeface="Times New Roman"/>
                <a:cs typeface="Times New Roman"/>
              </a:rPr>
              <a:t>5 таблиц: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users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product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product_in_cart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orders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i="0" u="none" strike="noStrike" kern="1200" cap="none" spc="0" baseline="0" dirty="0" err="1">
                <a:uFillTx/>
                <a:latin typeface="Times New Roman"/>
                <a:cs typeface="Times New Roman"/>
              </a:rPr>
              <a:t>product_in_order</a:t>
            </a:r>
            <a:endParaRPr lang="ru-RU" sz="2200" i="0" u="none" strike="noStrike" kern="1200" cap="none" spc="0" baseline="0" dirty="0">
              <a:uFillTx/>
              <a:latin typeface="Times New Roman"/>
              <a:cs typeface="Times New Roman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7794788-F47D-479B-A528-0DE97B364C92}"/>
              </a:ext>
            </a:extLst>
          </p:cNvPr>
          <p:cNvSpPr txBox="1">
            <a:spLocks/>
          </p:cNvSpPr>
          <p:nvPr/>
        </p:nvSpPr>
        <p:spPr>
          <a:xfrm>
            <a:off x="2942228" y="1179"/>
            <a:ext cx="6307540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схема БД</a:t>
            </a:r>
          </a:p>
        </p:txBody>
      </p:sp>
      <p:sp>
        <p:nvSpPr>
          <p:cNvPr id="10" name="PageNum">
            <a:extLst>
              <a:ext uri="{FF2B5EF4-FFF2-40B4-BE49-F238E27FC236}">
                <a16:creationId xmlns:a16="http://schemas.microsoft.com/office/drawing/2014/main" id="{801AD88D-E79D-4B0E-9B20-E62624AAED8E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8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low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3"/>
          <p:cNvPicPr/>
          <p:nvPr/>
        </p:nvPicPr>
        <p:blipFill>
          <a:blip r:embed="rId2"/>
          <a:stretch>
            <a:fillRect/>
          </a:stretch>
        </p:blipFill>
        <p:spPr>
          <a:xfrm>
            <a:off x="90530" y="760491"/>
            <a:ext cx="6005470" cy="6006979"/>
          </a:xfrm>
          <a:prstGeom prst="rect">
            <a:avLst/>
          </a:prstGeom>
        </p:spPr>
      </p:pic>
      <p:sp>
        <p:nvSpPr>
          <p:cNvPr id="4" name="TextBox4"/>
          <p:cNvSpPr txBox="1"/>
          <p:nvPr/>
        </p:nvSpPr>
        <p:spPr>
          <a:xfrm>
            <a:off x="7321030" y="1438262"/>
            <a:ext cx="4778970" cy="39814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Ключевые шаги: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1. Запуск → проверка сессии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2. Каталог → добавление в корзину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3. Выбор способа оплаты (5 вариантов)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4. Проверка условий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5. Операции с БД </a:t>
            </a:r>
            <a:r>
              <a:rPr lang="en-US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(orders -&gt; </a:t>
            </a:r>
            <a:r>
              <a:rPr lang="en-US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product_in_order</a:t>
            </a:r>
            <a:r>
              <a:rPr lang="en-US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-&gt; </a:t>
            </a:r>
            <a:r>
              <a:rPr lang="en-US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product_in_cart</a:t>
            </a:r>
            <a:r>
              <a:rPr lang="en-US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6. Уведомление через </a:t>
            </a:r>
            <a:r>
              <a:rPr lang="ru-RU" sz="21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Snackbar</a:t>
            </a:r>
            <a:endParaRPr lang="ru-RU" sz="21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EFDAF2DB-8817-458E-B9FA-9BD7D680F961}"/>
              </a:ext>
            </a:extLst>
          </p:cNvPr>
          <p:cNvSpPr txBox="1">
            <a:spLocks/>
          </p:cNvSpPr>
          <p:nvPr/>
        </p:nvSpPr>
        <p:spPr>
          <a:xfrm>
            <a:off x="2560547" y="0"/>
            <a:ext cx="7070905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оформления заказа</a:t>
            </a:r>
          </a:p>
        </p:txBody>
      </p:sp>
      <p:sp>
        <p:nvSpPr>
          <p:cNvPr id="9" name="PageNum">
            <a:extLst>
              <a:ext uri="{FF2B5EF4-FFF2-40B4-BE49-F238E27FC236}">
                <a16:creationId xmlns:a16="http://schemas.microsoft.com/office/drawing/2014/main" id="{48BD2C4B-5D3E-4624-832E-159014BF60BF}"/>
              </a:ext>
            </a:extLst>
          </p:cNvPr>
          <p:cNvSpPr txBox="1"/>
          <p:nvPr/>
        </p:nvSpPr>
        <p:spPr>
          <a:xfrm>
            <a:off x="11400000" y="6250000"/>
            <a:ext cx="700000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9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3"/>
          <p:cNvPicPr/>
          <p:nvPr/>
        </p:nvPicPr>
        <p:blipFill>
          <a:blip r:embed="rId2"/>
          <a:stretch>
            <a:fillRect/>
          </a:stretch>
        </p:blipFill>
        <p:spPr>
          <a:xfrm>
            <a:off x="1200000" y="1200000"/>
            <a:ext cx="2500000" cy="4800000"/>
          </a:xfrm>
          <a:prstGeom prst="rect">
            <a:avLst/>
          </a:prstGeom>
        </p:spPr>
      </p:pic>
      <p:pic>
        <p:nvPicPr>
          <p:cNvPr id="4" name="Pic4"/>
          <p:cNvPicPr/>
          <p:nvPr/>
        </p:nvPicPr>
        <p:blipFill>
          <a:blip r:embed="rId3"/>
          <a:stretch>
            <a:fillRect/>
          </a:stretch>
        </p:blipFill>
        <p:spPr>
          <a:xfrm>
            <a:off x="4100000" y="1200000"/>
            <a:ext cx="2500000" cy="4800000"/>
          </a:xfrm>
          <a:prstGeom prst="rect">
            <a:avLst/>
          </a:prstGeom>
        </p:spPr>
      </p:pic>
      <p:sp>
        <p:nvSpPr>
          <p:cNvPr id="5" name="TextBox5"/>
          <p:cNvSpPr txBox="1"/>
          <p:nvPr/>
        </p:nvSpPr>
        <p:spPr>
          <a:xfrm>
            <a:off x="6728396" y="1748507"/>
            <a:ext cx="5192000" cy="33609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Экран регистрации: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4 поля ввода;</a:t>
            </a:r>
            <a:b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</a:b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клиентская валидация (формат, сложность);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проверка уникальности телефона.</a:t>
            </a: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Экран входа: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email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пароль;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Auth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JWT-сессия;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EFDF8DBB-C257-4D60-AB00-EC28AAE2DAA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Дизайн приложения: аутентификация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ageNum">
            <a:extLst>
              <a:ext uri="{FF2B5EF4-FFF2-40B4-BE49-F238E27FC236}">
                <a16:creationId xmlns:a16="http://schemas.microsoft.com/office/drawing/2014/main" id="{F2F87789-D28C-4C1C-8D79-29543806F598}"/>
              </a:ext>
            </a:extLst>
          </p:cNvPr>
          <p:cNvSpPr txBox="1"/>
          <p:nvPr/>
        </p:nvSpPr>
        <p:spPr>
          <a:xfrm>
            <a:off x="11289671" y="6250000"/>
            <a:ext cx="810329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10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3"/>
          <p:cNvPicPr/>
          <p:nvPr/>
        </p:nvPicPr>
        <p:blipFill>
          <a:blip r:embed="rId2"/>
          <a:stretch>
            <a:fillRect/>
          </a:stretch>
        </p:blipFill>
        <p:spPr>
          <a:xfrm>
            <a:off x="596015" y="1200000"/>
            <a:ext cx="2800000" cy="4800000"/>
          </a:xfrm>
          <a:prstGeom prst="rect">
            <a:avLst/>
          </a:prstGeom>
        </p:spPr>
      </p:pic>
      <p:pic>
        <p:nvPicPr>
          <p:cNvPr id="4" name="Pic4"/>
          <p:cNvPicPr/>
          <p:nvPr/>
        </p:nvPicPr>
        <p:blipFill>
          <a:blip r:embed="rId3"/>
          <a:stretch>
            <a:fillRect/>
          </a:stretch>
        </p:blipFill>
        <p:spPr>
          <a:xfrm>
            <a:off x="3700000" y="1200000"/>
            <a:ext cx="2800000" cy="4800000"/>
          </a:xfrm>
          <a:prstGeom prst="rect">
            <a:avLst/>
          </a:prstGeom>
        </p:spPr>
      </p:pic>
      <p:sp>
        <p:nvSpPr>
          <p:cNvPr id="5" name="TextBox5"/>
          <p:cNvSpPr txBox="1"/>
          <p:nvPr/>
        </p:nvSpPr>
        <p:spPr>
          <a:xfrm>
            <a:off x="6800000" y="1200000"/>
            <a:ext cx="4800000" cy="45920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Каталог: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сетка 2 колонки;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поиск по вводу + фильтры (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Spinner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счётчик на карточке, FAB ↑.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Корзина: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кнопки +/− с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realtime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-обновлением;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итоговая стоимость;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выбор оплаты (5 вариантов);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кнопка активна при непустой корзине.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4C78BF5D-2FE6-453D-A4D2-E1D25785FC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Дизайн приложения: каталог и корзина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ageNum">
            <a:extLst>
              <a:ext uri="{FF2B5EF4-FFF2-40B4-BE49-F238E27FC236}">
                <a16:creationId xmlns:a16="http://schemas.microsoft.com/office/drawing/2014/main" id="{A7675A33-68C3-4040-83CF-F72AEEE3BCA7}"/>
              </a:ext>
            </a:extLst>
          </p:cNvPr>
          <p:cNvSpPr txBox="1"/>
          <p:nvPr/>
        </p:nvSpPr>
        <p:spPr>
          <a:xfrm>
            <a:off x="11289671" y="6250000"/>
            <a:ext cx="810329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11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3"/>
          <p:cNvPicPr/>
          <p:nvPr/>
        </p:nvPicPr>
        <p:blipFill>
          <a:blip r:embed="rId2"/>
          <a:stretch>
            <a:fillRect/>
          </a:stretch>
        </p:blipFill>
        <p:spPr>
          <a:xfrm>
            <a:off x="596015" y="1200000"/>
            <a:ext cx="2800000" cy="4800000"/>
          </a:xfrm>
          <a:prstGeom prst="rect">
            <a:avLst/>
          </a:prstGeom>
        </p:spPr>
      </p:pic>
      <p:pic>
        <p:nvPicPr>
          <p:cNvPr id="4" name="Pic4"/>
          <p:cNvPicPr/>
          <p:nvPr/>
        </p:nvPicPr>
        <p:blipFill>
          <a:blip r:embed="rId3"/>
          <a:stretch>
            <a:fillRect/>
          </a:stretch>
        </p:blipFill>
        <p:spPr>
          <a:xfrm>
            <a:off x="3700000" y="1200000"/>
            <a:ext cx="2800000" cy="4800000"/>
          </a:xfrm>
          <a:prstGeom prst="rect">
            <a:avLst/>
          </a:prstGeom>
        </p:spPr>
      </p:pic>
      <p:sp>
        <p:nvSpPr>
          <p:cNvPr id="5" name="TextBox5"/>
          <p:cNvSpPr txBox="1"/>
          <p:nvPr/>
        </p:nvSpPr>
        <p:spPr>
          <a:xfrm>
            <a:off x="6800000" y="1200000"/>
            <a:ext cx="4800000" cy="49460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История заказов: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номер, дата, способ оплаты;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статус (10 вариантов);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состав и стоимость заказа.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Настройки: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имя,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email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, телефон пользователя;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кнопка выхода из аккаунта.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Нижняя навигация: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Catalogue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/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Cart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/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Orders</a:t>
            </a:r>
            <a:r>
              <a:rPr lang="ru-RU" sz="20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/ </a:t>
            </a:r>
            <a:r>
              <a:rPr lang="ru-RU" sz="20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Settings</a:t>
            </a:r>
            <a:endParaRPr lang="ru-RU" sz="20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F5DE6537-FF99-4FE3-BBC7-E357DFDBBD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/>
                <a:cs typeface="Times New Roman"/>
              </a:rPr>
              <a:t>Дизайн приложения: заказы и профиль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ageNum">
            <a:extLst>
              <a:ext uri="{FF2B5EF4-FFF2-40B4-BE49-F238E27FC236}">
                <a16:creationId xmlns:a16="http://schemas.microsoft.com/office/drawing/2014/main" id="{216A3187-B5DB-47F6-BA25-18FC6A0E7D74}"/>
              </a:ext>
            </a:extLst>
          </p:cNvPr>
          <p:cNvSpPr txBox="1"/>
          <p:nvPr/>
        </p:nvSpPr>
        <p:spPr>
          <a:xfrm>
            <a:off x="11289671" y="6250000"/>
            <a:ext cx="810329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12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2"/>
          <p:cNvSpPr txBox="1"/>
          <p:nvPr/>
        </p:nvSpPr>
        <p:spPr>
          <a:xfrm>
            <a:off x="596015" y="1200000"/>
            <a:ext cx="11015164" cy="44579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Разработано мобильное </a:t>
            </a:r>
            <a:r>
              <a:rPr lang="ru-RU" sz="24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24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-приложение интернет-магазина.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В ходе работы: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спроектирована трёхслойная архитектура;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реализованы модули: аутентификация, каталог (поиск, фильтрация),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 корзина с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realtime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-синхронизацией, оформление и история заказов;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выполнена интеграция с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разработан UI по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Material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Design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3;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в 16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Use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4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Case</a:t>
            </a:r>
            <a:r>
              <a:rPr lang="ru-RU" sz="24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инкапсулированы все бизнес-сценарии приложения.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413FA14C-BE7C-43BF-A63F-58CF45D71C0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648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9" name="PageNum">
            <a:extLst>
              <a:ext uri="{FF2B5EF4-FFF2-40B4-BE49-F238E27FC236}">
                <a16:creationId xmlns:a16="http://schemas.microsoft.com/office/drawing/2014/main" id="{49B52CC3-01F1-4A50-8ED9-46FDFE1513A6}"/>
              </a:ext>
            </a:extLst>
          </p:cNvPr>
          <p:cNvSpPr txBox="1"/>
          <p:nvPr/>
        </p:nvSpPr>
        <p:spPr>
          <a:xfrm>
            <a:off x="11289671" y="6250000"/>
            <a:ext cx="810329" cy="52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t" anchorCtr="0"/>
          <a:lstStyle/>
          <a:p>
            <a:pPr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13</a:t>
            </a:r>
            <a:r>
              <a:rPr lang="ru-RU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/1</a:t>
            </a: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ru-RU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3047996" y="-2496"/>
            <a:ext cx="6105073" cy="1661885"/>
          </a:xfrm>
        </p:spPr>
        <p:txBody>
          <a:bodyPr>
            <a:noAutofit/>
          </a:bodyPr>
          <a:lstStyle/>
          <a:p>
            <a:pPr lvl="0"/>
            <a:r>
              <a:rPr lang="ru-RU" sz="1800">
                <a:latin typeface="Times New Roman"/>
                <a:cs typeface="Times New Roman"/>
              </a:rPr>
              <a:t>МИНОБРНАУКИ РОССИИ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ФЕДЕРАЛЬНОЕ ГОСУДАРСТВЕННОЕ БЮДЖЕТНОЕ ОБРАЗОВАТЕЛЬНОЕ  УЧРЕЖДЕНИЕ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ВЫСШЕГО ОБРАЗОВАНИЯ</a:t>
            </a:r>
          </a:p>
          <a:p>
            <a:pPr lvl="0"/>
            <a:r>
              <a:rPr lang="ru-RU" sz="1800">
                <a:latin typeface="Times New Roman"/>
                <a:cs typeface="Times New Roman"/>
              </a:rPr>
              <a:t>«ВОРОНЕЖСКИЙ ГОСУДАРСТВЕННЫЙ УНИВЕРСИТЕТ»  (ФГБОУ ВО «ВГУ»)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8410661" y="5245693"/>
            <a:ext cx="3781336" cy="882386"/>
          </a:xfrm>
        </p:spPr>
        <p:txBody>
          <a:bodyPr anchorCtr="0"/>
          <a:lstStyle/>
          <a:p>
            <a:pPr lvl="0" algn="l"/>
            <a:r>
              <a:rPr lang="ru-RU" dirty="0">
                <a:latin typeface="Times New Roman"/>
                <a:cs typeface="Times New Roman"/>
              </a:rPr>
              <a:t>Обучающийся: Ерохов В.Е.</a:t>
            </a:r>
          </a:p>
          <a:p>
            <a:pPr lvl="0" algn="l"/>
            <a:r>
              <a:rPr lang="ru-RU" dirty="0">
                <a:latin typeface="Times New Roman"/>
                <a:cs typeface="Times New Roman"/>
              </a:rPr>
              <a:t>Руководитель: Ушаков В.А.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859504" y="1859391"/>
            <a:ext cx="8472985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Факультет компьютерных наук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Кафедра программирования и информационных технологий</a:t>
            </a:r>
            <a:endParaRPr lang="ru-RU" sz="24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2" y="2890391"/>
            <a:ext cx="12191999" cy="1077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Разработка мобильного приложения интернет-магазина электроники на платформе </a:t>
            </a:r>
            <a:r>
              <a:rPr lang="en-US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3200" b="0" i="1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21053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868</Words>
  <Application>Microsoft Office PowerPoint</Application>
  <PresentationFormat>Широкоэкранный</PresentationFormat>
  <Paragraphs>192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Тема Office</vt:lpstr>
      <vt:lpstr>МИНОБРНАУКИ РОССИИ ФЕДЕРАЛЬНОЕ ГОСУДАРСТВЕННОЕ БЮДЖЕТНОЕ ОБРАЗОВАТЕЛЬНОЕ  УЧРЕЖДЕНИЕ ВЫСШЕГО ОБРАЗОВАНИЯ «ВОРОНЕЖСКИЙ ГОСУДАРСТВЕННЫЙ УНИВЕРСИТЕТ»  (ФГБОУ ВО «ВГУ»)</vt:lpstr>
      <vt:lpstr>Цели и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МИНОБРНАУКИ РОССИИ ФЕДЕРАЛЬНОЕ ГОСУДАРСТВЕННОЕ БЮДЖЕТНОЕ ОБРАЗОВАТЕЛЬНОЕ  УЧРЕЖДЕНИЕ ВЫСШЕГО ОБРАЗОВАНИЯ «ВОРОНЕЖСКИЙ ГОСУДАРСТВЕННЫЙ УНИВЕРСИТЕТ»  (ФГБОУ ВО «ВГУ»)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Василий Ерохов</cp:lastModifiedBy>
  <cp:revision>702</cp:revision>
  <dcterms:created xsi:type="dcterms:W3CDTF">2024-07-01T19:22:09Z</dcterms:created>
  <dcterms:modified xsi:type="dcterms:W3CDTF">2026-06-06T12:47:06Z</dcterms:modified>
</cp:coreProperties>
</file>